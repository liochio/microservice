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411480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🎓 ĐỒ ÁN TỐT NGHIỆP ĐẠI HỌC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HỆ THỐNG QUẢN TRỊ TÀI CHÍNH THÔNG MINH</a:t>
            </a:r>
            <a:br/>
            <a:r>
              <a:t>KẾT HỢP HEO ĐẤT IOT (ESP32) VÀ TRÍ TUỆ NHÂN TẠO (AI)</a:t>
            </a:r>
          </a:p>
          <a:p>
            <a:pPr>
              <a:spcBef>
                <a:spcPts val="1500"/>
              </a:spcBef>
              <a:defRPr sz="1500">
                <a:solidFill>
                  <a:srgbClr val="0D9488"/>
                </a:solidFill>
              </a:defRPr>
            </a:pPr>
            <a:r>
              <a:t>Kiến trúc Backend Bọc Thép ACID • Ingestion 6 Tầng • Dự Báo Chuỗi Thời Gian • WebSocket Live Stream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023360"/>
            <a:ext cx="10362895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4206240"/>
            <a:ext cx="9784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👤 Sinh viên thực hiện: [Họ và Tên Sinh Viên]          |   Mã số SV: [MSSV]</a:t>
            </a:r>
          </a:p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</a:defRPr>
            </a:pPr>
            <a:r>
              <a:t>👨‍🏫 Giảng viên hướng dẫn: [Họ và Tên GVHD]        |   Khoa: Công Nghệ Thông Tin / Kỹ Thuật Phần Mềm</a:t>
            </a:r>
          </a:p>
          <a:p>
            <a:pPr>
              <a:spcBef>
                <a:spcPts val="1200"/>
              </a:spcBef>
              <a:defRPr sz="1400" b="1">
                <a:solidFill>
                  <a:srgbClr val="F59E0B"/>
                </a:solidFill>
              </a:defRPr>
            </a:pPr>
            <a:r>
              <a:t>🚀 Quy mô hệ thống: 69 Endpoints RESTful • 22 Bảng MySQL 8.0 • 100% Passed Test Cases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TÍNH CẤP THIẾT ĐỀ TÀI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1. ĐẶT VẤN ĐỀ &amp; GIẢI PHÁP ĐỀ XUẤT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E11D48"/>
                </a:solidFill>
              </a:defRPr>
            </a:pPr>
            <a:r>
              <a:t>❌ THÁCH THỨC &amp; HẠN CHẾ HIỆN TẠI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App tài chính thuần túy: Phải nhập liệu thủ công bằng tay -&gt; Người dùng mau nản, hay quên ghi chép chi tiêu tiền mặt.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Tiền mặt thất thoát: Tiền thối, tiền lẻ không được quản lý khoa học, dễ bị tiêu xài phung phí.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Heo đất truyền thống: Chỉ là ống nhựa/sứ vô tri, không biết bên trong có bao nhiêu tiền, dễ bị cạy phá/trộm cắp.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Trẻ em thiếu giáo dục tài chính: Thiếu công cụ trực quan rèn luyện tính kiên trì, kỷ luật tiết kiệm từ nhỏ.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D9488"/>
                </a:solidFill>
              </a:defRPr>
            </a:pPr>
            <a:r>
              <a:t>💡 GIẢI PHÁP ĐỀ XUẤT CỦA ĐỀ TÀI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✔ Heo Đất Thông Minh IoT: Tích hợp vi điều khiển ESP32 + Mắt đọc quang học + Cân điện tử Load Cell HX711 nhận diện mệnh giá.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✔ Bảo mật bọc thép: Chữ ký HMAC-SHA256 &amp; Nonce chống Replay Attack, đồng bộ ngoại tuyến khi rớt mạng WiFi.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✔ AI Financial Advisor: Hồi quy chuỗi thời gian dự báo ngày đầy heo, phân tích hành vi và chấm điểm sức khỏe tài chính.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✔ Cha mẹ nhân đôi tiền thưởng: Parent Matching Bonus (50%-100%) tự động trích ví cha mẹ thưởng cho con.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✔ Thanh toán số &amp; Live Stream: Sinh mã VietQR NAPAS 247 và bắn WebSocket ting-ting thời gian thực.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THIẾT KẾ HỆ THỐNG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2. KIẾN TRÚC HỆ THỐNG TỔNG THỂ (SYSTEM BLUEPRINT)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280160"/>
            <a:ext cx="10362895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280160"/>
            <a:ext cx="182880" cy="9144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325880"/>
            <a:ext cx="9784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TẦNG 1: CLIENT LAYER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ESP32 IoT Hardware / Mobile Flutter App / Web SPA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331720"/>
            <a:ext cx="10362895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331720"/>
            <a:ext cx="182880" cy="91440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2377439"/>
            <a:ext cx="9784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TẦNG 2: SECURITY &amp; GATEWAY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Reverse Proxy • JWT Dual-Token • HMAC-SHA256 • Rate Limiter • i18n Engine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383279"/>
            <a:ext cx="10362895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3383279"/>
            <a:ext cx="182880" cy="9144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3429000"/>
            <a:ext cx="9784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TẦNG 3: API CONTROLLERS (69 ENDPOINTS)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Auth (11) • Smart Piggy (16) • Wallets &amp; Tx (13) • Goals (5) • VietQR (3) • Reports (5)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434840"/>
            <a:ext cx="10362895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4434840"/>
            <a:ext cx="182880" cy="9144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4480559"/>
            <a:ext cx="9784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TẦNG 4: CORE SERVICE ENGINES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ACID Ingestion • Parent Bonus • Time-Series AI • WebSocket Manager • Webhook Engine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486400"/>
            <a:ext cx="10362895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5486400"/>
            <a:ext cx="182880" cy="914400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5532120"/>
            <a:ext cx="9784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TẦNG 5: PERSISTENCE &amp; STORAGE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MySQL 8.0 ACID Database (22 Bảng chuẩn 3NF) • Transaction Isolation • Row-Level Lock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PHẦN CỨNG &amp; CẢM BIẾN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3. THIẾT KẾ PHẦN CỨNG HEO ĐẤT THÔNG MINH IOT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698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🧠 ESP32 Dual-Core 240MHz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Vi điều khiển trung tâm tích hợp WiFi 802.11 b/g/n &amp; BLE, mã hóa phần cứng AES/SHA, quản lý bộ nhớ Flash an toàn.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10698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77439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👁️ Cảm Biến Quang (Optical Slot)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Gắn tại khe nhét tiền nhận diện tức thời kích thước và tốc độ rơi của tờ tiền/đồng xu khi người dùng bỏ ống heo.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83279"/>
            <a:ext cx="10698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28999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⚖️ Cân Điện Tử Load Cell HX711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Đo độ biến thiên khối lượng thực tế ΔW = W_sau - W_trước dưới đáy bụng heo để đối soát, chống đút giấy rác/tiền giả.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34840"/>
            <a:ext cx="10698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80559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🚨 Cảm Biến Gia Tốc MPU6050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Phát hiện hành vi rung lắc mạnh, dốc ngược hoặc đập phá heo đất -&gt; Kích hoạt còi hú 2000Hz và chớp đèn LED đỏ.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486400"/>
            <a:ext cx="10698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53212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🌈 Đèn LED RGB &amp; Loa Buzzer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Phát hiệu ứng ánh sáng (Rainbow, Happy Pulse) và âm thanh Oink Oink vui nhộn khi hoàn thành đút tiền.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BẢO MẬT &amp; XỬ LÝ DÒNG TIỀN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4. LUỒNG NẠP TIỀN BỌC THÉP 6 TẦNG (ACID INGESTION)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2120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1. Xác Thực MAC &amp; Device Key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Đối chiếu địa chỉ MAC cứng của chip ESP32 thuộc quyền sở hữu của User, chống Fake Device 100%.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25880"/>
            <a:ext cx="52120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41732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2. Chống Replay Attack (HMAC-SHA256)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Gói tin kèm Nonce và Timestamp ngẫu nhiên, từ chối mọi request gửi lại hoặc can thiệp trên đường truyền.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52120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3. Đối Soát Cảm Biến Kép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So sánh mệnh giá quang học với khối lượng cân nặng ΔW thực tế, ngăn chặn hành vi đút giấy rác.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017520"/>
            <a:ext cx="52120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310896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4. Database Transaction ACID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Ghi log smart_piggy_coin_logs + Tăng số dư ví Heo Đất + Tạo Transaction INCOME trong cùng 1 Transaction.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9160"/>
            <a:ext cx="52120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80060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5. Cha Mẹ Thưởng Nhân Đôi Tiền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Tự động trích tiền từ Ví Cha Mẹ thưởng thêm 50% - 100% vào Ví Heo Đất của Con (Parent Matching Bonus).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4709160"/>
            <a:ext cx="52120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480060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6. Bắn WebSocket Live Stream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Bắn tín hiệu thời gian thực lên Mobile App (hiển thị animation pháo hoa + âm thanh Ting-ting tại giây thứ 0).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TRÍ TUỆ NHÂN TẠO (AI/ML)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5. PHÂN HỆ TRÍ TUỆ NHÂN TẠO &amp; PHÂN TÍCH DỰ BÁO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📈 AI Dự Báo Ngày Đầy Heo (Deposit Forecast)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Thuật toán hồi quy chuỗi thời gian phân tích tốc độ bỏ ống heo thực tế trung bình ngày v_tb = ΣΔM / Δt để tính số ngày còn lại D = (M_target - M_current)/v_tb kèm hệ số tin cậy (Confidence Score).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🧠 AI Phân Tích Thói Quen (Behavior Analysis)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Phát hiện ngày trong tuần đút tiền nhiều nhất (VD: Chủ Nhật), mệnh giá ưa chuộng (VD: 50,000 VND), và chấm điểm kiên trì (0 - 100) phân loại danh hiệu tài chính cá nhân.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94760"/>
            <a:ext cx="106984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886200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💯 AI Chấm Điểm Sức Khỏe Tài Chính (Spending Score)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Đánh giá tỷ lệ tích lũy/thu nhập, phân tích rủi ro vượt ngân sách và tự động đưa ra lời khuyên tối ưu chi tiêu thông minh.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029200"/>
            <a:ext cx="106984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20640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🧾 Smart OCR Quét Hóa Đơn Mua Sắm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Trích xuất tự động tên cửa hàng, ngày giờ giao dịch, danh sách mặt hàng và tổng số tiền từ ảnh chụp hóa đơn bán lẻ.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TÍNH MỚI &amp; SÁNG TẠO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6. CÁC TÍNH NĂNG ĐỘT PHÁ NÂNG CAO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39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🔒 Khóa Heo Đất (Piggy Lock)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Cơ chế đóng băng không cho phép rút tiền từ Heo đất trước hạn hoặc trước khi đạt 100% mục tiêu -&gt; Rèn tính kỷ luật tài chính tuyệt đối cho trẻ 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2588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463039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👨‍👩‍👧 Cha Mẹ Nhân Đôi Tiền Thưởng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Parent Matching Bonus: Cấu hình tỷ lệ thưởng (50% - 100%). Khi con đút heo, hệ thống tự động trích ví cha mẹ nạp thêm vào ví heo của con.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9476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💳 Cổng Nạp Tiền VietQR NAPAS 247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Sinh mã QR động kèm nội dung chuyển khoản tự động. Webhook tự động nhận diện giao dịch ngân hàng và cộng tiền số dư tức thì.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79476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393192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📊 Báo Cáo Dòng Tiền &amp; Xuất Excel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Tổng hợp biểu đồ Cash Flow 30 ngày, tỷ trọng danh mục và xuất toàn bộ lịch sử sao kê ra file CSV/Excel UTF-8 có BOM chuẩn tiếng Việt.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KIỂM THỬ THỰC NGHIỆM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7. KẾT QUẢ TRIỂN KHAI &amp; ĐÁNH GIÁ HIỆU NĂNG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560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9488"/>
                </a:solidFill>
              </a:defRPr>
            </a:pPr>
            <a:r>
              <a:t>69</a:t>
            </a:r>
          </a:p>
          <a:p>
            <a:pPr algn="ctr"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API ENDPOINTS HOÀN THIỆN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10 phân hệ nghiệp vụ hoàn chỉnh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371600"/>
            <a:ext cx="2560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46304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6B6D4"/>
                </a:solidFill>
              </a:defRPr>
            </a:pPr>
            <a:r>
              <a:t>100%</a:t>
            </a:r>
          </a:p>
          <a:p>
            <a:pPr algn="ctr"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TEST CASES PASSED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Vượt qua toàn bộ kịch bản E2E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371600"/>
            <a:ext cx="2560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46304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59E0B"/>
                </a:solidFill>
              </a:defRPr>
            </a:pPr>
            <a:r>
              <a:t>&lt; 15ms</a:t>
            </a:r>
          </a:p>
          <a:p>
            <a:pPr algn="ctr"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LATENCY TRUNG BÌNH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Phản hồi API tức thì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371600"/>
            <a:ext cx="2560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15400" y="146304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11D48"/>
                </a:solidFill>
              </a:defRPr>
            </a:pPr>
            <a:r>
              <a:t>326/326</a:t>
            </a:r>
          </a:p>
          <a:p>
            <a:pPr algn="ctr"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MODULES COMPILED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Không có lỗi cú pháp hoặc runtime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1069848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840480"/>
            <a:ext cx="10149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🧪 KẾT QUẢ KIỂM THỬ LIÊN HOÀN (MASTER TEST SUITE)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✅ Luồng Ingestion IoT: Cảm biến đút tiền 50k -&gt; Cộng số dư ví Heo đất -&gt; Bắn WebSocket -&gt; Kích hoạt lệnh đèn LED/Buzzer thành công.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✅ Luồng Khóa Mục Tiêu: Khóa heo đất khi tạo mục tiêu Laptop 15tr -&gt; Ngăn chặn rút tiền trái phép -&gt; Mở khóa khi đạt 100%.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✅ Luồng Cổng Thanh Toán: Sinh mã VietQR NAPAS 247 -&gt; Nhận Webhook từ ngân hàng -&gt; Cộng số dư tự động theo chuẩn ACID.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✅ Luồng Báo Cáo: Xuất sao kê CSV/Excel UTF-8 có BOM hiển thị tiếng Việt hoàn hảo trên Microsoft Excel.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59E0B"/>
                </a:solidFill>
              </a:defRPr>
            </a:pPr>
            <a:r>
              <a:t>🏆 TỔNG KẾT &amp; ĐÓNG GÓP CỦA ĐỀ TÀI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✔ Xây dựng thành công hệ sinh thái Quản lý Tài chính Thông minh kết hợp Phần cứng Heo Đất IoT và AI đầu tiên.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✔ Giải quyết triệt để bài toán thất thoát tiền mặt và lười ghi chép chi tiêu bằng cơ chế nạp tiền tự động từ cảm biến.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✔ Đảm bảo an ninh dữ liệu cấp ngân hàng: HMAC-SHA256, Nonce, ACID Transaction, và Offline Flash Sync.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✔ Mang giá trị nhân văn và giáo dục cao: Cơ chế thưởng của cha mẹ và khóa heo rèn luyện tính kỷ luật cho thế hệ trẻ.</a:t>
            </a:r>
          </a:p>
          <a:p>
            <a:br/>
            <a:pPr>
              <a:spcBef>
                <a:spcPts val="2000"/>
              </a:spcBef>
              <a:defRPr sz="1800" b="1">
                <a:solidFill>
                  <a:srgbClr val="06B6D4"/>
                </a:solidFill>
              </a:defRPr>
            </a:pPr>
            <a:r>
              <a:t>👏 XIN TRÂN TRỌNG CẢM ƠN QUÝ THẦY CÔ HỘI ĐỒNG ĐÃ LẮNG NGHE!</a:t>
            </a:r>
            <a:br/>
            <a:r>
              <a:t>KÍNH MỜI QUÝ THẦY CÔ ĐẶT CÂU HỎI PHẢN BIỆN (Q&amp;A)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